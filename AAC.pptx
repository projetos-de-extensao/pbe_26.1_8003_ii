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66" r:id="rId4"/>
    <p:sldId id="262" r:id="rId5"/>
    <p:sldId id="261" r:id="rId6"/>
    <p:sldId id="260" r:id="rId7"/>
    <p:sldId id="257" r:id="rId8"/>
    <p:sldId id="264" r:id="rId9"/>
    <p:sldId id="263" r:id="rId10"/>
    <p:sldId id="259" r:id="rId11"/>
    <p:sldId id="25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9B5EB-0B10-B85E-8F30-4D6C27214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817" y="2486321"/>
            <a:ext cx="3484192" cy="2268559"/>
          </a:xfrm>
        </p:spPr>
        <p:txBody>
          <a:bodyPr/>
          <a:lstStyle/>
          <a:p>
            <a:r>
              <a:rPr lang="pt-BR" dirty="0"/>
              <a:t>AAC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9047B7-DD2F-22A3-7AB3-E3167D557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5072" y="3319976"/>
            <a:ext cx="4693922" cy="393896"/>
          </a:xfrm>
        </p:spPr>
        <p:txBody>
          <a:bodyPr/>
          <a:lstStyle/>
          <a:p>
            <a:r>
              <a:rPr lang="pt-BR" dirty="0"/>
              <a:t>MARIA LUISA, MIGUEL E BENTO</a:t>
            </a:r>
          </a:p>
        </p:txBody>
      </p:sp>
    </p:spTree>
    <p:extLst>
      <p:ext uri="{BB962C8B-B14F-4D97-AF65-F5344CB8AC3E}">
        <p14:creationId xmlns:p14="http://schemas.microsoft.com/office/powerpoint/2010/main" val="1704998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9BE2C-8B29-D6F1-A8D5-850889C2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Objetivos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64FA7-25B8-6674-5F84-462D41A6A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Cadastro de atividades internas e externas </a:t>
            </a:r>
          </a:p>
          <a:p>
            <a:r>
              <a:rPr lang="pt-BR" dirty="0"/>
              <a:t>Validação (coordenação)</a:t>
            </a:r>
          </a:p>
          <a:p>
            <a:r>
              <a:rPr lang="pt-BR" dirty="0"/>
              <a:t>Progresso do aluno e horas</a:t>
            </a:r>
          </a:p>
        </p:txBody>
      </p:sp>
    </p:spTree>
    <p:extLst>
      <p:ext uri="{BB962C8B-B14F-4D97-AF65-F5344CB8AC3E}">
        <p14:creationId xmlns:p14="http://schemas.microsoft.com/office/powerpoint/2010/main" val="27365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D865B-6AEB-3122-906E-A1F714B4B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725322"/>
          </a:xfrm>
        </p:spPr>
        <p:txBody>
          <a:bodyPr/>
          <a:lstStyle/>
          <a:p>
            <a:pPr algn="ctr"/>
            <a:r>
              <a:rPr lang="pt-BR" dirty="0"/>
              <a:t>Usuários e Casos de uso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B53E1E-72B6-B49F-032F-9A6973172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645919"/>
            <a:ext cx="7369207" cy="4515729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Atores: Coordenador, Organização Acadêmica e Alunos</a:t>
            </a:r>
          </a:p>
          <a:p>
            <a:r>
              <a:rPr lang="pt-BR" dirty="0"/>
              <a:t>UC01: Realizar Login (Todos) — autenticação por perfil.</a:t>
            </a:r>
          </a:p>
          <a:p>
            <a:r>
              <a:rPr lang="pt-BR" dirty="0"/>
              <a:t>UC02: Cadastrar Atividade Externa (Alunos) — envio de comprovante.</a:t>
            </a:r>
          </a:p>
          <a:p>
            <a:r>
              <a:rPr lang="pt-BR" dirty="0"/>
              <a:t>UC03: Validar Atividade (Coordenador) — aprovar ou rejeitar e contabilizar horas.</a:t>
            </a:r>
          </a:p>
          <a:p>
            <a:r>
              <a:rPr lang="pt-BR" dirty="0"/>
              <a:t>UC04: Consultar Horas (Alunos) — dashboard do aluno.</a:t>
            </a:r>
          </a:p>
          <a:p>
            <a:r>
              <a:rPr lang="pt-BR" dirty="0"/>
              <a:t>UC05: Cadastrar Atividade Interna (Coordenador e Organização Acadêmica) — criar e associar alunos.</a:t>
            </a:r>
          </a:p>
          <a:p>
            <a:r>
              <a:rPr lang="pt-BR" dirty="0"/>
              <a:t>UC06: Participar de Atividade Interna (Alunos) — aluno se inscreve.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3995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A935B-269E-8D70-853F-BDCDDF891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55" y="759656"/>
            <a:ext cx="2166424" cy="731520"/>
          </a:xfrm>
        </p:spPr>
        <p:txBody>
          <a:bodyPr/>
          <a:lstStyle/>
          <a:p>
            <a:r>
              <a:rPr lang="pt-BR" dirty="0"/>
              <a:t>LOGIN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901C7F5-574C-B6BD-FBED-1000ED3BC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6735" y="1812861"/>
            <a:ext cx="8158530" cy="2855911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242C560-D114-5E95-EEE9-3EE19F6C8B43}"/>
              </a:ext>
            </a:extLst>
          </p:cNvPr>
          <p:cNvSpPr txBox="1"/>
          <p:nvPr/>
        </p:nvSpPr>
        <p:spPr>
          <a:xfrm>
            <a:off x="2016735" y="4990457"/>
            <a:ext cx="88063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Área responsável pela identificação dos usuários do sistema. Por ela, coordenadores, organizações acadêmicas e alunos realizam o acesso utilizando suas credenciais e direcionados para seus dashboards conforme o perfil </a:t>
            </a:r>
          </a:p>
        </p:txBody>
      </p:sp>
    </p:spTree>
    <p:extLst>
      <p:ext uri="{BB962C8B-B14F-4D97-AF65-F5344CB8AC3E}">
        <p14:creationId xmlns:p14="http://schemas.microsoft.com/office/powerpoint/2010/main" val="3232064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4753C-24BB-77DF-405E-74213CA9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086" y="808056"/>
            <a:ext cx="6893169" cy="1077229"/>
          </a:xfrm>
        </p:spPr>
        <p:txBody>
          <a:bodyPr/>
          <a:lstStyle/>
          <a:p>
            <a:r>
              <a:rPr lang="pt-BR" dirty="0"/>
              <a:t>DASHBOARD DO ALUNO</a:t>
            </a:r>
          </a:p>
        </p:txBody>
      </p:sp>
      <p:pic>
        <p:nvPicPr>
          <p:cNvPr id="17" name="Espaço Reservado para Conteúdo 16">
            <a:extLst>
              <a:ext uri="{FF2B5EF4-FFF2-40B4-BE49-F238E27FC236}">
                <a16:creationId xmlns:a16="http://schemas.microsoft.com/office/drawing/2014/main" id="{DAAFACCA-4367-BB95-8EC0-D5A8EA9F9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894" y="1663782"/>
            <a:ext cx="7796212" cy="3530436"/>
          </a:xfr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C3F0CA7-2B81-0810-C689-6536F65537E8}"/>
              </a:ext>
            </a:extLst>
          </p:cNvPr>
          <p:cNvSpPr txBox="1"/>
          <p:nvPr/>
        </p:nvSpPr>
        <p:spPr>
          <a:xfrm>
            <a:off x="1437835" y="5429179"/>
            <a:ext cx="93163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Tela criada para ver o acompanhamento das </a:t>
            </a:r>
            <a:r>
              <a:rPr lang="pt-BR" dirty="0" err="1"/>
              <a:t>AAC´s</a:t>
            </a:r>
            <a:r>
              <a:rPr lang="pt-BR" dirty="0"/>
              <a:t> pelo aluno. Visualizando informações do aluno, a carga horária ,participar de atividades internas pela instituição, cadastrar atividades externas e consultar o histórico completo de solicitações e validações. </a:t>
            </a:r>
          </a:p>
        </p:txBody>
      </p:sp>
    </p:spTree>
    <p:extLst>
      <p:ext uri="{BB962C8B-B14F-4D97-AF65-F5344CB8AC3E}">
        <p14:creationId xmlns:p14="http://schemas.microsoft.com/office/powerpoint/2010/main" val="2694445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0414A-7AB8-F883-DD21-34750758A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884" y="808056"/>
            <a:ext cx="7695027" cy="711255"/>
          </a:xfrm>
        </p:spPr>
        <p:txBody>
          <a:bodyPr>
            <a:normAutofit fontScale="90000"/>
          </a:bodyPr>
          <a:lstStyle/>
          <a:p>
            <a:r>
              <a:rPr lang="pt-BR" dirty="0"/>
              <a:t>CADASTRO DE ATIVIDADE EXTERNA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A853EF6-A6BF-1EE2-441F-807628A83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7735" y="1814932"/>
            <a:ext cx="8816530" cy="3228135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6F44FB3-5540-B7A0-AD97-ED0B8372A14B}"/>
              </a:ext>
            </a:extLst>
          </p:cNvPr>
          <p:cNvSpPr txBox="1"/>
          <p:nvPr/>
        </p:nvSpPr>
        <p:spPr>
          <a:xfrm>
            <a:off x="1840329" y="5211879"/>
            <a:ext cx="85113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Area utilizada pelos alunos para registrar atividades complementares feitas. Permite enviar a descrição da atividade, a carga horária solicitada, o tipo de atividade e anexar o comprovante, que será visto e validado pela coordenação.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784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CB260-8027-6D3E-FDD5-432533EE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263712" cy="1077229"/>
          </a:xfrm>
        </p:spPr>
        <p:txBody>
          <a:bodyPr/>
          <a:lstStyle/>
          <a:p>
            <a:r>
              <a:rPr lang="pt-BR" dirty="0"/>
              <a:t>DASHBOARD DO COORDENADOR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A881F4D-C2A6-4339-F345-2BB2B212A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027" y="1885285"/>
            <a:ext cx="9345945" cy="2969315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3F7791A-96DE-8926-35C5-6F813B2834A2}"/>
              </a:ext>
            </a:extLst>
          </p:cNvPr>
          <p:cNvSpPr txBox="1"/>
          <p:nvPr/>
        </p:nvSpPr>
        <p:spPr>
          <a:xfrm>
            <a:off x="1589649" y="5054666"/>
            <a:ext cx="90033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Tela utilizada à gestão das atividades acadêmicas complementares. O coordenador consegue cadastrar atividades internas, acompanhar solicitações enviadas pelos alunos e realizar a validação ou rejeição das atividades externas, tendo o controle e a contabilização correta da carga horária complementar.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533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7946C-8379-49EA-2FDA-D6A48E67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808056"/>
            <a:ext cx="9003323" cy="1077229"/>
          </a:xfrm>
        </p:spPr>
        <p:txBody>
          <a:bodyPr/>
          <a:lstStyle/>
          <a:p>
            <a:pPr algn="ctr"/>
            <a:r>
              <a:rPr lang="pt-BR" dirty="0"/>
              <a:t>CADASTRO DE ATIVIDADES </a:t>
            </a:r>
            <a:br>
              <a:rPr lang="pt-BR" dirty="0"/>
            </a:br>
            <a:r>
              <a:rPr lang="pt-BR" dirty="0"/>
              <a:t>INTERNAS 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16F5693-4765-2012-35B5-9A34051F2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7185" y="2053990"/>
            <a:ext cx="8217629" cy="2971055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71492F4-C1D3-DE79-4BE8-563BF2F802F5}"/>
              </a:ext>
            </a:extLst>
          </p:cNvPr>
          <p:cNvSpPr txBox="1"/>
          <p:nvPr/>
        </p:nvSpPr>
        <p:spPr>
          <a:xfrm>
            <a:off x="1446165" y="5228920"/>
            <a:ext cx="98227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Área utilizada pelos coordenadores e organizações acadêmicas para criar atividades internas novas. Contendo a descrição da atividade, a carga horária e o tipo de atividade, permitindo que os alunos visualizem e se inscrevam </a:t>
            </a:r>
          </a:p>
        </p:txBody>
      </p:sp>
    </p:spTree>
    <p:extLst>
      <p:ext uri="{BB962C8B-B14F-4D97-AF65-F5344CB8AC3E}">
        <p14:creationId xmlns:p14="http://schemas.microsoft.com/office/powerpoint/2010/main" val="1979783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049DA-FF3B-B8A8-9F45-4EA3D23C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852" y="808056"/>
            <a:ext cx="8937723" cy="107722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DASHBOARD DA ORGANIZAÇÃO</a:t>
            </a:r>
            <a:br>
              <a:rPr lang="pt-BR" dirty="0"/>
            </a:br>
            <a:r>
              <a:rPr lang="pt-BR" dirty="0"/>
              <a:t>ACADÊMICA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97EFB02-0BC2-5E59-D724-EFA953EBB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3998" y="2068768"/>
            <a:ext cx="9011833" cy="2720464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31A9559-6D1B-E814-24F8-6C4CDBBFABF5}"/>
              </a:ext>
            </a:extLst>
          </p:cNvPr>
          <p:cNvSpPr txBox="1"/>
          <p:nvPr/>
        </p:nvSpPr>
        <p:spPr>
          <a:xfrm>
            <a:off x="1923170" y="5126614"/>
            <a:ext cx="83456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Tela utilizada pelas organizações acadêmicas do IBMEC, garantindo o gerenciamento das atividades internas. Os alunos possuem acesso e podem se inscrever em novas atividades criadas </a:t>
            </a:r>
          </a:p>
        </p:txBody>
      </p:sp>
    </p:spTree>
    <p:extLst>
      <p:ext uri="{BB962C8B-B14F-4D97-AF65-F5344CB8AC3E}">
        <p14:creationId xmlns:p14="http://schemas.microsoft.com/office/powerpoint/2010/main" val="3935986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EFA2E-F7A6-5992-87F7-7997B4972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9" y="808056"/>
            <a:ext cx="6869816" cy="1077229"/>
          </a:xfrm>
        </p:spPr>
        <p:txBody>
          <a:bodyPr/>
          <a:lstStyle/>
          <a:p>
            <a:pPr algn="ctr"/>
            <a:r>
              <a:rPr lang="pt-BR" dirty="0"/>
              <a:t>Django Admin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77A2859-357C-A490-A47C-A3255DC26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0705" y="1430337"/>
            <a:ext cx="5292024" cy="3997325"/>
          </a:xfr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0563347-88DE-E33D-169F-015C7AD53B97}"/>
              </a:ext>
            </a:extLst>
          </p:cNvPr>
          <p:cNvSpPr txBox="1"/>
          <p:nvPr/>
        </p:nvSpPr>
        <p:spPr>
          <a:xfrm>
            <a:off x="1420837" y="5634444"/>
            <a:ext cx="101850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Área criada com Django Admin, feita para gerenciar os dados do sistema centralizado. Utilizado para cadastrar, editar e consultar alunos, coordenadores, usuários, organizações acadêmicas, atividades complementares, tipos de atividades e validações tendo assim um maior controle das informações </a:t>
            </a:r>
          </a:p>
        </p:txBody>
      </p:sp>
    </p:spTree>
    <p:extLst>
      <p:ext uri="{BB962C8B-B14F-4D97-AF65-F5344CB8AC3E}">
        <p14:creationId xmlns:p14="http://schemas.microsoft.com/office/powerpoint/2010/main" val="1989638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66F14-5D3C-78AF-A922-9CEB14523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362" y="736979"/>
            <a:ext cx="7784217" cy="1077229"/>
          </a:xfrm>
        </p:spPr>
        <p:txBody>
          <a:bodyPr/>
          <a:lstStyle/>
          <a:p>
            <a:pPr algn="ctr"/>
            <a:r>
              <a:rPr lang="pt-BR" dirty="0"/>
              <a:t>SWAGGER/OPENAPI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2E82451-E022-B3FA-D0DD-E263E116E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3614" y="1430337"/>
            <a:ext cx="7604771" cy="3997325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32BE79F-B442-694F-D5DF-C00F2101627C}"/>
              </a:ext>
            </a:extLst>
          </p:cNvPr>
          <p:cNvSpPr txBox="1"/>
          <p:nvPr/>
        </p:nvSpPr>
        <p:spPr>
          <a:xfrm>
            <a:off x="1111348" y="5708743"/>
            <a:ext cx="10241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Documentação interativa da API desenvolvida com Django REST Framework e Swagger/</a:t>
            </a:r>
            <a:r>
              <a:rPr lang="pt-BR" dirty="0" err="1"/>
              <a:t>OpenAPI</a:t>
            </a:r>
            <a:r>
              <a:rPr lang="pt-BR" dirty="0"/>
              <a:t>. Feito para visualizar, testar e validar todos os </a:t>
            </a:r>
            <a:r>
              <a:rPr lang="pt-BR" dirty="0" err="1"/>
              <a:t>endpoints</a:t>
            </a:r>
            <a:r>
              <a:rPr lang="pt-BR" dirty="0"/>
              <a:t> do sistema e também operações de cadastro, consulta, atualização e exclusão de alunos, atividades complementares, validações.</a:t>
            </a:r>
          </a:p>
        </p:txBody>
      </p:sp>
    </p:spTree>
    <p:extLst>
      <p:ext uri="{BB962C8B-B14F-4D97-AF65-F5344CB8AC3E}">
        <p14:creationId xmlns:p14="http://schemas.microsoft.com/office/powerpoint/2010/main" val="17153498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{6FE0D273-5FD6-4020-8B49-131A6D3B6366}TF37254b02-f5b5-44b0-803d-e6af9466a02417627056-1f29dbaacecc</Template>
  <TotalTime>93</TotalTime>
  <Words>467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MS Shell Dlg 2</vt:lpstr>
      <vt:lpstr>Wingdings</vt:lpstr>
      <vt:lpstr>Wingdings 3</vt:lpstr>
      <vt:lpstr>Madison</vt:lpstr>
      <vt:lpstr>AAC</vt:lpstr>
      <vt:lpstr>Objetivos </vt:lpstr>
      <vt:lpstr>Usuários e Casos de uso </vt:lpstr>
      <vt:lpstr>LOGIN</vt:lpstr>
      <vt:lpstr>DASHBOARD DO ALUNO</vt:lpstr>
      <vt:lpstr>CADASTRO DE ATIVIDADE EXTERNA           </vt:lpstr>
      <vt:lpstr>DASHBOARD DO COORDENADOR</vt:lpstr>
      <vt:lpstr>CADASTRO DE ATIVIDADES  INTERNAS </vt:lpstr>
      <vt:lpstr>DASHBOARD DA ORGANIZAÇÃO ACADÊMICA</vt:lpstr>
      <vt:lpstr>Django Admin</vt:lpstr>
      <vt:lpstr>SWAGGER/OPENAPI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malu martinelli</dc:creator>
  <cp:lastModifiedBy>malu martinelli</cp:lastModifiedBy>
  <cp:revision>1</cp:revision>
  <dcterms:created xsi:type="dcterms:W3CDTF">2026-06-14T20:55:37Z</dcterms:created>
  <dcterms:modified xsi:type="dcterms:W3CDTF">2026-06-14T22:29:01Z</dcterms:modified>
</cp:coreProperties>
</file>